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7780953" cy="861497"/>
          </a:xfrm>
        </p:spPr>
        <p:txBody>
          <a:bodyPr vert="horz" lIns="91440" tIns="45720" rIns="91440" bIns="45720" rtlCol="0" anchor="t">
            <a:normAutofit/>
          </a:bodyPr>
          <a:lstStyle/>
          <a:p>
            <a:pPr algn="r"/>
            <a:r>
              <a:rPr lang="en-US" b="0" dirty="0">
                <a:solidFill>
                  <a:schemeClr val="tx1"/>
                </a:solidFill>
              </a:rPr>
              <a:t>[Student Name:- Sayantan Mondal, </a:t>
            </a:r>
            <a:endParaRPr lang="en-IN" b="0" dirty="0">
              <a:solidFill>
                <a:schemeClr val="tx1"/>
              </a:solidFill>
            </a:endParaRPr>
          </a:p>
          <a:p>
            <a:pPr algn="r"/>
            <a:r>
              <a:rPr lang="en-US" b="0" dirty="0">
                <a:solidFill>
                  <a:schemeClr val="tx1"/>
                </a:solidFill>
              </a:rPr>
              <a:t>College Name-HALDIA INSTITUTE OF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098493" cy="710213"/>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350088" cy="369332"/>
          </a:xfrm>
          <a:prstGeom prst="rect">
            <a:avLst/>
          </a:prstGeom>
          <a:noFill/>
        </p:spPr>
        <p:txBody>
          <a:bodyPr wrap="square" rtlCol="0">
            <a:spAutoFit/>
          </a:bodyPr>
          <a:lstStyle/>
          <a:p>
            <a:r>
              <a:rPr lang="en-US" b="1" dirty="0"/>
              <a:t>AICTE STU ID : (</a:t>
            </a:r>
            <a:r>
              <a:rPr lang="en-IN" dirty="0"/>
              <a:t>STU6885d8c3d48bd1753602243</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r>
              <a:rPr lang="en-IN" sz="2800" dirty="0"/>
              <a:t>(</a:t>
            </a:r>
            <a:r>
              <a:rPr lang="en-US" dirty="0"/>
              <a:t>Agricultural activities are influenced by seasonal variations in environmental conditions,</a:t>
            </a:r>
          </a:p>
          <a:p>
            <a:r>
              <a:rPr lang="en-US" dirty="0"/>
              <a:t>farming practices, resource availability and market conditions. As a result, agricultural</a:t>
            </a:r>
          </a:p>
          <a:p>
            <a:r>
              <a:rPr lang="en-US" dirty="0"/>
              <a:t>performance may differ from one season to another.</a:t>
            </a:r>
          </a:p>
          <a:p>
            <a:r>
              <a:rPr lang="en-US" dirty="0"/>
              <a:t>However, raw agricultural data does not clearly explain how agricultural performance changes</a:t>
            </a:r>
          </a:p>
          <a:p>
            <a:r>
              <a:rPr lang="en-US" dirty="0"/>
              <a:t>across seasons or what patterns can be observed in different seasonal conditions.</a:t>
            </a:r>
          </a:p>
          <a:p>
            <a:r>
              <a:rPr lang="en-US" dirty="0"/>
              <a:t>The problem is to analyze the given agricultural dataset and investigate seasonal differences</a:t>
            </a:r>
          </a:p>
          <a:p>
            <a:r>
              <a:rPr lang="en-US" dirty="0"/>
              <a:t>in agricultural performance by identifying meaningful patterns, trends, relationships and</a:t>
            </a:r>
          </a:p>
          <a:p>
            <a:r>
              <a:rPr lang="en-US" dirty="0"/>
              <a:t>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IN" sz="1200" dirty="0"/>
            </a:br>
            <a:r>
              <a:rPr lang="en-IN" sz="1200" dirty="0"/>
              <a:t>Seasonal Agriculture Performance Analysis is an end-to-end data analytics and machine learning project designed to evaluate and compare agricultural performance across Kharif, Rabi, and Zaid seasons. The project uses a structured agricultural dataset containing information related to crop production, yield, profitability, irrigation, resource consumption, environmental conditions, and disease/pest risk.</a:t>
            </a:r>
            <a:br>
              <a:rPr lang="en-IN" sz="1200" dirty="0"/>
            </a:br>
            <a:r>
              <a:rPr lang="en-IN" sz="1200" dirty="0"/>
              <a:t>The project begins with data preprocessing and quality assessment, including dataset profiling, data-type validation, missing-value detection and treatment, duplicate identification, range validation, and consistency checks. Feature engineering is then performed to derive meaningful analytical variables such as Profit per Hectare, Revenue per Hectare, Water Usage per Hectare, and Total NPK, enabling more detailed performance evaluation.</a:t>
            </a:r>
            <a:br>
              <a:rPr lang="en-IN" sz="1200" dirty="0"/>
            </a:br>
            <a:r>
              <a:rPr lang="en-IN" sz="1200" dirty="0"/>
              <a:t>Extensive Exploratory Data Analysis (EDA) is conducted using Pandas, NumPy, Matplotlib, and Seaborn to identify distributions, trends, seasonal variations, crop-level differences, regional patterns, and relationships between agricultural variables. Comparative analysis is performed across seasons, crops, states, and irrigation methods to identify high- and low-performing combinations.</a:t>
            </a:r>
            <a:br>
              <a:rPr lang="en-IN" sz="1200" dirty="0"/>
            </a:br>
            <a:r>
              <a:rPr lang="en-IN" sz="1200" dirty="0"/>
              <a:t>For quantitative validation, the project applies statistical analysis using SciPy, including ANOVA, Kruskal-Wallis testing, Mann-Whitney pairwise comparisons with Bonferroni correction, and effect-size analysis. Correlation analysis is also used to investigate relationships between environmental conditions, resource usage, and agricultural outcomes.</a:t>
            </a:r>
            <a:br>
              <a:rPr lang="en-IN" sz="1200" dirty="0"/>
            </a:br>
            <a:r>
              <a:rPr lang="en-IN" sz="1200" dirty="0"/>
              <a:t>A Random Forest Regression model using Scikit-learn is additionally implemented to predict agricultural yield and evaluate feature importance. Model performance is assessed using metrics such as R² and Mean Absolute Error (MAE), providing a machine-learning perspective on yield prediction.</a:t>
            </a:r>
            <a:br>
              <a:rPr lang="en-IN" sz="1200" dirty="0"/>
            </a:br>
            <a:r>
              <a:rPr lang="en-IN" sz="1200" dirty="0"/>
              <a:t>The final analysis transforms raw agricultural data into actionable insights, highlighting seasonal performance differences and supporting data-driven recommendations for crop selection, resource allocation, irrigation management, and region-specific agricultural planning.)</a:t>
            </a:r>
            <a:br>
              <a:rPr lang="en-IN"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0000" lnSpcReduction="20000"/>
          </a:bodyPr>
          <a:lstStyle/>
          <a:p>
            <a:pPr lvl="0"/>
            <a:r>
              <a:rPr lang="en-IN" sz="3600" b="1" dirty="0"/>
              <a:t>Farmers:</a:t>
            </a:r>
            <a:r>
              <a:rPr lang="en-IN" sz="3600" dirty="0"/>
              <a:t> Use insights for crop selection, seasonal planning, yield improvement, and efficient resource utilization. </a:t>
            </a:r>
          </a:p>
          <a:p>
            <a:pPr lvl="0"/>
            <a:r>
              <a:rPr lang="en-IN" sz="3600" b="1" dirty="0"/>
              <a:t>Agricultural Planners:</a:t>
            </a:r>
            <a:r>
              <a:rPr lang="en-IN" sz="3600" dirty="0"/>
              <a:t> </a:t>
            </a:r>
            <a:r>
              <a:rPr lang="en-IN" sz="3600" dirty="0" err="1"/>
              <a:t>Analyze</a:t>
            </a:r>
            <a:r>
              <a:rPr lang="en-IN" sz="3600" dirty="0"/>
              <a:t> seasonal and regional performance to improve crop planning and resource allocation. </a:t>
            </a:r>
          </a:p>
          <a:p>
            <a:pPr lvl="0"/>
            <a:r>
              <a:rPr lang="en-IN" sz="3600" b="1" dirty="0"/>
              <a:t>Government &amp; Agriculture Departments:</a:t>
            </a:r>
            <a:r>
              <a:rPr lang="en-IN" sz="3600" dirty="0"/>
              <a:t> Support agricultural policies, schemes, resource distribution, and sustainable farming initiatives. </a:t>
            </a:r>
          </a:p>
          <a:p>
            <a:pPr lvl="0"/>
            <a:r>
              <a:rPr lang="en-IN" sz="3600" b="1" dirty="0"/>
              <a:t>Researchers:</a:t>
            </a:r>
            <a:r>
              <a:rPr lang="en-IN" sz="3600" dirty="0"/>
              <a:t> Study seasonal variations, crop performance, environmental factors, and agricultural trends. </a:t>
            </a:r>
          </a:p>
          <a:p>
            <a:pPr lvl="0"/>
            <a:r>
              <a:rPr lang="en-IN" sz="3600" b="1" dirty="0"/>
              <a:t>Data Analysts:</a:t>
            </a:r>
            <a:r>
              <a:rPr lang="en-IN" sz="3600" dirty="0"/>
              <a:t> Use the dataset and analytical results to identify patterns, relationships, and performance indicators. </a:t>
            </a:r>
          </a:p>
          <a:p>
            <a:pPr lvl="0"/>
            <a:r>
              <a:rPr lang="en-IN" sz="3600" b="1" dirty="0"/>
              <a:t>Agribusinesses:</a:t>
            </a:r>
            <a:r>
              <a:rPr lang="en-IN" sz="3600" dirty="0"/>
              <a:t> Identify profitable crop-season combinations and improve production and investment decisions. </a:t>
            </a:r>
          </a:p>
          <a:p>
            <a:pPr lvl="0"/>
            <a:r>
              <a:rPr lang="en-IN" sz="3600" b="1" dirty="0"/>
              <a:t>Irrigation Managers:</a:t>
            </a:r>
            <a:r>
              <a:rPr lang="en-IN" sz="3600" dirty="0"/>
              <a:t> </a:t>
            </a:r>
            <a:r>
              <a:rPr lang="en-IN" sz="3600" dirty="0" err="1"/>
              <a:t>Analyze</a:t>
            </a:r>
            <a:r>
              <a:rPr lang="en-IN" sz="3600" dirty="0"/>
              <a:t> water usage and efficiency to support better irrigation planning. </a:t>
            </a:r>
          </a:p>
          <a:p>
            <a:pPr lvl="0"/>
            <a:r>
              <a:rPr lang="en-IN" sz="3600" b="1" dirty="0"/>
              <a:t>Environmental &amp; Sustainability Teams:</a:t>
            </a:r>
            <a:r>
              <a:rPr lang="en-IN" sz="3600" dirty="0"/>
              <a:t> Evaluate resource consumption and environmental conditions to encourage sustainable agricultural practices.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33898" y="1300480"/>
            <a:ext cx="9027702" cy="5243448"/>
          </a:xfrm>
        </p:spPr>
        <p:txBody>
          <a:bodyPr>
            <a:normAutofit fontScale="55000" lnSpcReduction="20000"/>
          </a:bodyPr>
          <a:lstStyle/>
          <a:p>
            <a:pPr lvl="0"/>
            <a:r>
              <a:rPr lang="en-IN" b="1" dirty="0"/>
              <a:t>Python</a:t>
            </a:r>
            <a:r>
              <a:rPr lang="en-IN" dirty="0"/>
              <a:t> – Core programming language used for data analysis, preprocessing, statistical analysis, and machine learning. </a:t>
            </a:r>
          </a:p>
          <a:p>
            <a:pPr lvl="0"/>
            <a:r>
              <a:rPr lang="en-IN" b="1" dirty="0"/>
              <a:t>Google </a:t>
            </a:r>
            <a:r>
              <a:rPr lang="en-IN" b="1" dirty="0" err="1"/>
              <a:t>Colab</a:t>
            </a:r>
            <a:r>
              <a:rPr lang="en-IN" b="1" dirty="0"/>
              <a:t> / Jupyter Notebook</a:t>
            </a:r>
            <a:r>
              <a:rPr lang="en-IN" dirty="0"/>
              <a:t> – Used as the development environment to execute, document, and present the complete analysis. </a:t>
            </a:r>
          </a:p>
          <a:p>
            <a:pPr lvl="0"/>
            <a:r>
              <a:rPr lang="en-IN" b="1" dirty="0"/>
              <a:t>Pandas</a:t>
            </a:r>
            <a:r>
              <a:rPr lang="en-IN" dirty="0"/>
              <a:t> – Used for data loading, cleaning, transformation, aggregation, and analysis. </a:t>
            </a:r>
          </a:p>
          <a:p>
            <a:pPr lvl="0"/>
            <a:r>
              <a:rPr lang="en-IN" b="1" dirty="0"/>
              <a:t>NumPy</a:t>
            </a:r>
            <a:r>
              <a:rPr lang="en-IN" dirty="0"/>
              <a:t> – Used for numerical operations and feature calculations. </a:t>
            </a:r>
          </a:p>
          <a:p>
            <a:pPr lvl="0"/>
            <a:r>
              <a:rPr lang="en-IN" b="1" dirty="0"/>
              <a:t>Matplotlib</a:t>
            </a:r>
            <a:r>
              <a:rPr lang="en-IN" dirty="0"/>
              <a:t> – Used to create analytical charts and visualizations. </a:t>
            </a:r>
          </a:p>
          <a:p>
            <a:pPr lvl="0"/>
            <a:r>
              <a:rPr lang="en-IN" b="1" dirty="0"/>
              <a:t>Seaborn</a:t>
            </a:r>
            <a:r>
              <a:rPr lang="en-IN" dirty="0"/>
              <a:t> – Used for advanced statistical visualizations such as box plots, heatmaps, and comparative charts. </a:t>
            </a:r>
          </a:p>
          <a:p>
            <a:pPr lvl="0"/>
            <a:r>
              <a:rPr lang="en-IN" b="1" dirty="0"/>
              <a:t>SciPy</a:t>
            </a:r>
            <a:r>
              <a:rPr lang="en-IN" dirty="0"/>
              <a:t> – Used for statistical hypothesis testing, including ANOVA, Kruskal-Wallis, and Mann-Whitney tests. </a:t>
            </a:r>
          </a:p>
          <a:p>
            <a:pPr lvl="0"/>
            <a:r>
              <a:rPr lang="en-IN" b="1" dirty="0"/>
              <a:t>Scikit-learn</a:t>
            </a:r>
            <a:r>
              <a:rPr lang="en-IN" dirty="0"/>
              <a:t> – Used to build and evaluate the </a:t>
            </a:r>
            <a:r>
              <a:rPr lang="en-IN" b="1" dirty="0"/>
              <a:t>Random Forest Regression</a:t>
            </a:r>
            <a:r>
              <a:rPr lang="en-IN" dirty="0"/>
              <a:t> model for yield prediction. </a:t>
            </a:r>
          </a:p>
          <a:p>
            <a:pPr lvl="0"/>
            <a:r>
              <a:rPr lang="en-IN" b="1" dirty="0"/>
              <a:t>Random Forest</a:t>
            </a:r>
            <a:r>
              <a:rPr lang="en-IN" dirty="0"/>
              <a:t> – Used to identify important predictive features and estimate agricultural yield. </a:t>
            </a:r>
          </a:p>
          <a:p>
            <a:pPr lvl="0"/>
            <a:r>
              <a:rPr lang="en-IN" b="1" dirty="0"/>
              <a:t>Statistical Analysis</a:t>
            </a:r>
            <a:r>
              <a:rPr lang="en-IN" dirty="0"/>
              <a:t> – Used to validate seasonal differences and determine statistical significance. </a:t>
            </a:r>
          </a:p>
          <a:p>
            <a:pPr lvl="0"/>
            <a:r>
              <a:rPr lang="en-IN" b="1" dirty="0"/>
              <a:t>Correlation Analysis</a:t>
            </a:r>
            <a:r>
              <a:rPr lang="en-IN" dirty="0"/>
              <a:t> – Used to examine relationships between environmental, resource, and agricultural variables. </a:t>
            </a:r>
          </a:p>
          <a:p>
            <a:pPr lvl="0"/>
            <a:r>
              <a:rPr lang="en-IN" b="1" dirty="0"/>
              <a:t>Feature Engineering</a:t>
            </a:r>
            <a:r>
              <a:rPr lang="en-IN" dirty="0"/>
              <a:t> – Used to create metrics such as profit per hectare, revenue per hectare, water usage per hectare, and total NPK. </a:t>
            </a:r>
          </a:p>
          <a:p>
            <a:pPr lvl="0"/>
            <a:r>
              <a:rPr lang="en-IN" b="1" dirty="0"/>
              <a:t>CSV / Excel Data</a:t>
            </a:r>
            <a:r>
              <a:rPr lang="en-IN" dirty="0"/>
              <a:t> – Used as the source format for storing and processing the agricultural 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7">
                                            <p:txEl>
                                              <p:pRg st="12" end="12"/>
                                            </p:txEl>
                                          </p:spTgt>
                                        </p:tgtEl>
                                        <p:attrNameLst>
                                          <p:attrName>style.visibility</p:attrName>
                                        </p:attrNameLst>
                                      </p:cBhvr>
                                      <p:to>
                                        <p:strVal val="visible"/>
                                      </p:to>
                                    </p:set>
                                    <p:animEffect transition="in" filter="fade">
                                      <p:cBhvr>
                                        <p:cTn id="98" dur="1000"/>
                                        <p:tgtEl>
                                          <p:spTgt spid="7">
                                            <p:txEl>
                                              <p:pRg st="12" end="12"/>
                                            </p:txEl>
                                          </p:spTgt>
                                        </p:tgtEl>
                                      </p:cBhvr>
                                    </p:animEffect>
                                    <p:anim calcmode="lin" valueType="num">
                                      <p:cBhvr>
                                        <p:cTn id="99"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1010364" y="5607453"/>
            <a:ext cx="4275138" cy="477520"/>
          </a:xfrm>
        </p:spPr>
        <p:txBody>
          <a:bodyPr vert="horz" lIns="91440" tIns="45720" rIns="91440" bIns="45720" rtlCol="0" anchor="t">
            <a:noAutofit/>
          </a:bodyPr>
          <a:lstStyle/>
          <a:p>
            <a:pPr marL="0" indent="0">
              <a:buNone/>
            </a:pPr>
            <a:r>
              <a:rPr lang="en-US" sz="1050" dirty="0"/>
              <a:t>[</a:t>
            </a:r>
            <a:r>
              <a:rPr lang="en-IN" sz="1050" dirty="0"/>
              <a:t>Water availability appears to be the most important factor associated with crop yield among the variables shown. The correlation of </a:t>
            </a:r>
            <a:r>
              <a:rPr lang="en-IN" sz="1050" b="1" dirty="0"/>
              <a:t>0.48</a:t>
            </a:r>
            <a:r>
              <a:rPr lang="en-IN" sz="1050" dirty="0"/>
              <a:t> indicates a moderate positive relationship, meaning that higher water use is generally associated with higher yield. Water also has a positive relationship with </a:t>
            </a:r>
            <a:r>
              <a:rPr lang="en-IN" sz="1050" b="1" dirty="0"/>
              <a:t>profit (0.13)</a:t>
            </a:r>
            <a:r>
              <a:rPr lang="en-IN" sz="1050" dirty="0"/>
              <a:t> and </a:t>
            </a:r>
            <a:r>
              <a:rPr lang="en-IN" sz="1050" b="1" dirty="0"/>
              <a:t>water efficiency (0.25</a:t>
            </a:r>
            <a:r>
              <a:rPr lang="en-US" sz="1050" dirty="0"/>
              <a:t> ]</a:t>
            </a:r>
            <a:endParaRPr lang="en-IN" sz="1050" dirty="0"/>
          </a:p>
        </p:txBody>
      </p:sp>
      <p:pic>
        <p:nvPicPr>
          <p:cNvPr id="3" name="Picture 2">
            <a:extLst>
              <a:ext uri="{FF2B5EF4-FFF2-40B4-BE49-F238E27FC236}">
                <a16:creationId xmlns:a16="http://schemas.microsoft.com/office/drawing/2014/main" id="{2918936E-7A50-0E6C-1394-B0A58453BDCB}"/>
              </a:ext>
            </a:extLst>
          </p:cNvPr>
          <p:cNvPicPr>
            <a:picLocks noChangeAspect="1"/>
          </p:cNvPicPr>
          <p:nvPr/>
        </p:nvPicPr>
        <p:blipFill>
          <a:blip r:embed="rId3"/>
          <a:stretch>
            <a:fillRect/>
          </a:stretch>
        </p:blipFill>
        <p:spPr>
          <a:xfrm>
            <a:off x="204667" y="1048628"/>
            <a:ext cx="7149706" cy="439498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2"/>
            <a:ext cx="4275138" cy="1921108"/>
          </a:xfrm>
        </p:spPr>
        <p:txBody>
          <a:bodyPr>
            <a:noAutofit/>
          </a:bodyPr>
          <a:lstStyle/>
          <a:p>
            <a:r>
              <a:rPr lang="en-US" sz="1050" dirty="0"/>
              <a:t>[</a:t>
            </a:r>
            <a:r>
              <a:rPr lang="en-IN" sz="1050" b="1" dirty="0"/>
              <a:t>Result:</a:t>
            </a:r>
            <a:r>
              <a:rPr lang="en-IN" sz="1050" dirty="0"/>
              <a:t> Average profit is approximately </a:t>
            </a:r>
            <a:r>
              <a:rPr lang="en-IN" sz="1050" b="1" dirty="0"/>
              <a:t>₹21,800/ha in Kharif</a:t>
            </a:r>
            <a:r>
              <a:rPr lang="en-IN" sz="1050" dirty="0"/>
              <a:t>, compared with about </a:t>
            </a:r>
            <a:r>
              <a:rPr lang="en-IN" sz="1050" b="1" dirty="0"/>
              <a:t>₹10,400/ha in Rabi</a:t>
            </a:r>
            <a:r>
              <a:rPr lang="en-IN" sz="1050" dirty="0"/>
              <a:t>, while </a:t>
            </a:r>
            <a:r>
              <a:rPr lang="en-IN" sz="1050" b="1" dirty="0"/>
              <a:t>Zaid has a negative average profit</a:t>
            </a:r>
            <a:r>
              <a:rPr lang="en-IN" sz="1050" dirty="0"/>
              <a:t> of roughly </a:t>
            </a:r>
            <a:r>
              <a:rPr lang="en-IN" sz="1050" b="1" dirty="0"/>
              <a:t>₹−2,600/ha</a:t>
            </a:r>
            <a:r>
              <a:rPr lang="en-IN" sz="1050" dirty="0"/>
              <a:t>.</a:t>
            </a:r>
          </a:p>
          <a:p>
            <a:r>
              <a:rPr lang="en-IN" sz="1050" b="1" dirty="0"/>
              <a:t>Description:</a:t>
            </a:r>
            <a:br>
              <a:rPr lang="en-IN" sz="1050" dirty="0"/>
            </a:br>
            <a:r>
              <a:rPr lang="en-IN" sz="1050" dirty="0"/>
              <a:t>Kharif is the most financially successful season in the dataset. Rabi remains profitable on average but at a considerably lower level, whereas Zaid records an average loss. The profit distributions also show substantial variability and numerous high-profit outliers, particularly in Kharif</a:t>
            </a:r>
          </a:p>
          <a:p>
            <a:pPr marL="0" indent="0">
              <a:buNone/>
            </a:pPr>
            <a:r>
              <a:rPr lang="en-US" sz="1050" dirty="0"/>
              <a:t>]</a:t>
            </a:r>
            <a:endParaRPr lang="en-IN" sz="1050" dirty="0"/>
          </a:p>
        </p:txBody>
      </p:sp>
      <p:pic>
        <p:nvPicPr>
          <p:cNvPr id="3" name="Picture 2">
            <a:extLst>
              <a:ext uri="{FF2B5EF4-FFF2-40B4-BE49-F238E27FC236}">
                <a16:creationId xmlns:a16="http://schemas.microsoft.com/office/drawing/2014/main" id="{96904ED1-A8CA-A633-0A58-38B35A930C9B}"/>
              </a:ext>
            </a:extLst>
          </p:cNvPr>
          <p:cNvPicPr>
            <a:picLocks noChangeAspect="1"/>
          </p:cNvPicPr>
          <p:nvPr/>
        </p:nvPicPr>
        <p:blipFill>
          <a:blip r:embed="rId3"/>
          <a:stretch>
            <a:fillRect/>
          </a:stretch>
        </p:blipFill>
        <p:spPr>
          <a:xfrm>
            <a:off x="405024" y="3377447"/>
            <a:ext cx="6240991" cy="348055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97833" y="1217088"/>
            <a:ext cx="4275138" cy="1208871"/>
          </a:xfrm>
        </p:spPr>
        <p:txBody>
          <a:bodyPr>
            <a:normAutofit fontScale="25000" lnSpcReduction="20000"/>
          </a:bodyPr>
          <a:lstStyle/>
          <a:p>
            <a:r>
              <a:rPr lang="en-IN" sz="4000" b="1" dirty="0"/>
              <a:t>Result:</a:t>
            </a:r>
            <a:r>
              <a:rPr lang="en-IN" sz="4000" dirty="0"/>
              <a:t> Average disease/pest risk is about </a:t>
            </a:r>
            <a:r>
              <a:rPr lang="en-IN" sz="4000" b="1" dirty="0"/>
              <a:t>54% in Kharif</a:t>
            </a:r>
            <a:r>
              <a:rPr lang="en-IN" sz="4000" dirty="0"/>
              <a:t>, compared with </a:t>
            </a:r>
            <a:r>
              <a:rPr lang="en-IN" sz="4000" b="1" dirty="0"/>
              <a:t>40% in Rabi</a:t>
            </a:r>
            <a:r>
              <a:rPr lang="en-IN" sz="4000" dirty="0"/>
              <a:t> and </a:t>
            </a:r>
            <a:r>
              <a:rPr lang="en-IN" sz="4000" b="1" dirty="0"/>
              <a:t>38% in Zaid</a:t>
            </a:r>
            <a:r>
              <a:rPr lang="en-IN" sz="4000" dirty="0"/>
              <a:t>.</a:t>
            </a:r>
          </a:p>
          <a:p>
            <a:r>
              <a:rPr lang="en-IN" sz="4000" b="1" dirty="0"/>
              <a:t>Description:</a:t>
            </a:r>
            <a:br>
              <a:rPr lang="en-IN" sz="4000" dirty="0"/>
            </a:br>
            <a:r>
              <a:rPr lang="en-IN" sz="4000" dirty="0"/>
              <a:t>Kharif achieves the strongest yield, profit, and water-efficiency performance, but it also experiences the highest disease and pest risk. This indicates an important trade-off: the season with the best overall agricultural performance also requires greater attention to pest and disease management.</a:t>
            </a:r>
          </a:p>
          <a:p>
            <a:r>
              <a:rPr lang="en-IN" sz="4000" b="1" dirty="0"/>
              <a:t>Overall conclusion</a:t>
            </a:r>
          </a:p>
          <a:p>
            <a:pPr marL="0" indent="0">
              <a:buNone/>
            </a:pPr>
            <a:endParaRPr lang="en-IN" dirty="0"/>
          </a:p>
        </p:txBody>
      </p:sp>
      <p:pic>
        <p:nvPicPr>
          <p:cNvPr id="3" name="Picture 2">
            <a:extLst>
              <a:ext uri="{FF2B5EF4-FFF2-40B4-BE49-F238E27FC236}">
                <a16:creationId xmlns:a16="http://schemas.microsoft.com/office/drawing/2014/main" id="{A8BFE62D-30B0-8C08-9A59-05AD270D9CE6}"/>
              </a:ext>
            </a:extLst>
          </p:cNvPr>
          <p:cNvPicPr>
            <a:picLocks noChangeAspect="1"/>
          </p:cNvPicPr>
          <p:nvPr/>
        </p:nvPicPr>
        <p:blipFill>
          <a:blip r:embed="rId3"/>
          <a:stretch>
            <a:fillRect/>
          </a:stretch>
        </p:blipFill>
        <p:spPr>
          <a:xfrm>
            <a:off x="0" y="2463017"/>
            <a:ext cx="7658359" cy="439498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2916372"/>
          </a:xfrm>
        </p:spPr>
        <p:txBody>
          <a:bodyPr>
            <a:noAutofit/>
          </a:bodyPr>
          <a:lstStyle/>
          <a:p>
            <a:r>
              <a:rPr lang="en-IN" sz="1100" dirty="0"/>
              <a:t>The heatmap shows that </a:t>
            </a:r>
            <a:r>
              <a:rPr lang="en-IN" sz="1100" b="1" dirty="0"/>
              <a:t>Sugarcane and Chilli are the most profitable crops</a:t>
            </a:r>
            <a:r>
              <a:rPr lang="en-IN" sz="1100" dirty="0"/>
              <a:t>, particularly during the </a:t>
            </a:r>
            <a:r>
              <a:rPr lang="en-IN" sz="1100" b="1" dirty="0"/>
              <a:t>Kharif season</a:t>
            </a:r>
            <a:r>
              <a:rPr lang="en-IN" sz="1100" dirty="0"/>
              <a:t>. Sugarcane records the highest average profit at </a:t>
            </a:r>
            <a:r>
              <a:rPr lang="en-IN" sz="1100" b="1" dirty="0"/>
              <a:t>₹120,564/ha in Kharif</a:t>
            </a:r>
            <a:r>
              <a:rPr lang="en-IN" sz="1100" dirty="0"/>
              <a:t>, followed by Chilli at </a:t>
            </a:r>
            <a:r>
              <a:rPr lang="en-IN" sz="1100" b="1" dirty="0"/>
              <a:t>₹111,812/ha</a:t>
            </a:r>
            <a:r>
              <a:rPr lang="en-IN" sz="1100" dirty="0"/>
              <a:t>.</a:t>
            </a:r>
          </a:p>
          <a:p>
            <a:r>
              <a:rPr lang="en-IN" sz="1100" dirty="0"/>
              <a:t>Profit generally decreases from </a:t>
            </a:r>
            <a:r>
              <a:rPr lang="en-IN" sz="1100" b="1" dirty="0"/>
              <a:t>Kharif → Rabi → Zaid</a:t>
            </a:r>
            <a:r>
              <a:rPr lang="en-IN" sz="1100" dirty="0"/>
              <a:t> for most crops. In contrast, </a:t>
            </a:r>
            <a:r>
              <a:rPr lang="en-IN" sz="1100" b="1" dirty="0"/>
              <a:t>Maize, Rice, and Wheat show negative average profits across all three seasons</a:t>
            </a:r>
            <a:r>
              <a:rPr lang="en-IN" sz="1100" dirty="0"/>
              <a:t>, with their losses becoming larger during Zaid. Rice records a loss of </a:t>
            </a:r>
            <a:r>
              <a:rPr lang="en-IN" sz="1100" b="1" dirty="0"/>
              <a:t>₹25,266/ha</a:t>
            </a:r>
            <a:r>
              <a:rPr lang="en-IN" sz="1100" dirty="0"/>
              <a:t> in Zaid, while Wheat records </a:t>
            </a:r>
            <a:r>
              <a:rPr lang="en-IN" sz="1100" b="1" dirty="0"/>
              <a:t>₹25,223/ha</a:t>
            </a:r>
            <a:r>
              <a:rPr lang="en-IN" sz="1100" dirty="0"/>
              <a:t>.</a:t>
            </a:r>
          </a:p>
          <a:p>
            <a:r>
              <a:rPr lang="en-IN" sz="1100" b="1" dirty="0"/>
              <a:t>Key finding:</a:t>
            </a:r>
            <a:r>
              <a:rPr lang="en-IN" sz="1100" dirty="0"/>
              <a:t> </a:t>
            </a:r>
            <a:r>
              <a:rPr lang="en-IN" sz="1100" b="1" dirty="0"/>
              <a:t>Kharif is the most profitable season overall, with Sugarcane being the highest-profit crop, while Zaid shows the weakest financial performance across most crops.</a:t>
            </a:r>
            <a:endParaRPr lang="en-IN" sz="1100" dirty="0"/>
          </a:p>
          <a:p>
            <a:pPr marL="0" indent="0">
              <a:buNone/>
            </a:pPr>
            <a:endParaRPr lang="en-IN" sz="1100" dirty="0"/>
          </a:p>
        </p:txBody>
      </p:sp>
      <p:pic>
        <p:nvPicPr>
          <p:cNvPr id="3" name="Picture 2">
            <a:extLst>
              <a:ext uri="{FF2B5EF4-FFF2-40B4-BE49-F238E27FC236}">
                <a16:creationId xmlns:a16="http://schemas.microsoft.com/office/drawing/2014/main" id="{988D7BA8-D5E3-A665-4E5F-B301A964A7D6}"/>
              </a:ext>
            </a:extLst>
          </p:cNvPr>
          <p:cNvPicPr>
            <a:picLocks noChangeAspect="1"/>
          </p:cNvPicPr>
          <p:nvPr/>
        </p:nvPicPr>
        <p:blipFill>
          <a:blip r:embed="rId3"/>
          <a:stretch>
            <a:fillRect/>
          </a:stretch>
        </p:blipFill>
        <p:spPr>
          <a:xfrm>
            <a:off x="4282173" y="2463017"/>
            <a:ext cx="7909827" cy="439498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1143556"/>
          </a:xfrm>
        </p:spPr>
        <p:txBody>
          <a:bodyPr>
            <a:noAutofit/>
          </a:bodyPr>
          <a:lstStyle/>
          <a:p>
            <a:pPr marL="0" indent="0">
              <a:buNone/>
            </a:pPr>
            <a:r>
              <a:rPr lang="en-IN" sz="1100" dirty="0"/>
              <a:t>The heatmap compares average consumption of </a:t>
            </a:r>
            <a:r>
              <a:rPr lang="en-IN" sz="1100" b="1" dirty="0"/>
              <a:t>Nitrogen, Phosphorus, Potassium, Fertilizer, Pesticide, Water, and Seed Quality Score</a:t>
            </a:r>
            <a:r>
              <a:rPr lang="en-IN" sz="1100" dirty="0"/>
              <a:t> across seasons. Water usage is particularly high, with Zaid recording the highest average water requirement. The results help identify seasonal differences in resource demand and support more efficient resource allocation</a:t>
            </a:r>
          </a:p>
        </p:txBody>
      </p:sp>
      <p:pic>
        <p:nvPicPr>
          <p:cNvPr id="3" name="Picture 2">
            <a:extLst>
              <a:ext uri="{FF2B5EF4-FFF2-40B4-BE49-F238E27FC236}">
                <a16:creationId xmlns:a16="http://schemas.microsoft.com/office/drawing/2014/main" id="{188FAA22-1BAB-37E6-DD26-87F610538C4B}"/>
              </a:ext>
            </a:extLst>
          </p:cNvPr>
          <p:cNvPicPr>
            <a:picLocks noChangeAspect="1"/>
          </p:cNvPicPr>
          <p:nvPr/>
        </p:nvPicPr>
        <p:blipFill>
          <a:blip r:embed="rId3"/>
          <a:stretch>
            <a:fillRect/>
          </a:stretch>
        </p:blipFill>
        <p:spPr>
          <a:xfrm>
            <a:off x="3962122" y="2468732"/>
            <a:ext cx="8229878" cy="438926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6" y="370589"/>
            <a:ext cx="9521339" cy="6487411"/>
          </a:xfrm>
        </p:spPr>
        <p:txBody>
          <a:bodyPr>
            <a:noAutofit/>
          </a:bodyPr>
          <a:lstStyle/>
          <a:p>
            <a:pPr lvl="0"/>
            <a:r>
              <a:rPr lang="en-IN" sz="3600" dirty="0"/>
              <a:t>FETURE SCOPE</a:t>
            </a:r>
            <a:br>
              <a:rPr lang="en-IN" sz="1400" dirty="0"/>
            </a:br>
            <a:br>
              <a:rPr lang="en-IN" sz="1400" dirty="0"/>
            </a:br>
            <a:br>
              <a:rPr lang="en-IN" sz="1400" dirty="0"/>
            </a:br>
            <a:br>
              <a:rPr lang="en-IN" sz="1400" dirty="0"/>
            </a:br>
            <a:br>
              <a:rPr lang="en-IN" sz="1400" dirty="0"/>
            </a:br>
            <a:r>
              <a:rPr lang="en-IN" sz="1400" dirty="0"/>
              <a:t>Seasonal Analysis: Compare agricultural performance across Kharif, Rabi, and Zaid seasons. </a:t>
            </a:r>
            <a:br>
              <a:rPr lang="en-IN" sz="1400" dirty="0"/>
            </a:br>
            <a:r>
              <a:rPr lang="en-IN" sz="1400" dirty="0"/>
              <a:t>Crop Profitability: Identify the most profitable and loss-making crop-season combinations. </a:t>
            </a:r>
            <a:br>
              <a:rPr lang="en-IN" sz="1400" dirty="0"/>
            </a:br>
            <a:r>
              <a:rPr lang="en-IN" sz="1400" dirty="0"/>
              <a:t>Yield Prediction: Predict crop yield using environmental, soil, and resource-related factors. </a:t>
            </a:r>
            <a:br>
              <a:rPr lang="en-IN" sz="1400" dirty="0"/>
            </a:br>
            <a:r>
              <a:rPr lang="en-IN" sz="1400" dirty="0"/>
              <a:t>Crop Recommendation: Suggest suitable crops based on season, expected yield, profitability, and resource availability. </a:t>
            </a:r>
            <a:br>
              <a:rPr lang="en-IN" sz="1400" dirty="0"/>
            </a:br>
            <a:r>
              <a:rPr lang="en-IN" sz="1400" dirty="0"/>
              <a:t>Water Management: </a:t>
            </a:r>
            <a:r>
              <a:rPr lang="en-IN" sz="1400" dirty="0" err="1"/>
              <a:t>Analyze</a:t>
            </a:r>
            <a:r>
              <a:rPr lang="en-IN" sz="1400" dirty="0"/>
              <a:t> water consumption and improve water-use efficiency. </a:t>
            </a:r>
            <a:br>
              <a:rPr lang="en-IN" sz="1400" dirty="0"/>
            </a:br>
            <a:r>
              <a:rPr lang="en-IN" sz="1400" dirty="0"/>
              <a:t>Risk Analysis: Evaluate disease and pest risks across crops and seasons. </a:t>
            </a:r>
            <a:br>
              <a:rPr lang="en-IN" sz="1400" dirty="0"/>
            </a:br>
            <a:r>
              <a:rPr lang="en-IN" sz="1400" dirty="0"/>
              <a:t>Resource Optimization: Improve the use of water, fertilizer, pesticide, and other agricultural inputs. </a:t>
            </a:r>
            <a:br>
              <a:rPr lang="en-IN" sz="1400" dirty="0"/>
            </a:br>
            <a:r>
              <a:rPr lang="en-IN" sz="1400" dirty="0"/>
              <a:t>Regional Analysis: Compare crop performance and profitability across different states. </a:t>
            </a:r>
            <a:br>
              <a:rPr lang="en-IN" sz="1400" dirty="0"/>
            </a:br>
            <a:r>
              <a:rPr lang="en-IN" sz="1400" dirty="0"/>
              <a:t>Interactive Dashboard: Present key insights through charts, rankings, heatmaps, and performance indicators. </a:t>
            </a:r>
            <a:br>
              <a:rPr lang="en-IN" sz="1400" dirty="0"/>
            </a:br>
            <a:r>
              <a:rPr lang="en-IN" sz="1400" dirty="0"/>
              <a:t>Future Scope: Extend the system with real-time weather data, market prices, advanced ML models, and personalized farmer recommendations. </a:t>
            </a:r>
            <a:br>
              <a:rPr lang="en-IN" sz="1050" dirty="0"/>
            </a:br>
            <a:endParaRPr lang="en-IN" sz="105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10250544" cy="3229138"/>
          </a:xfrm>
        </p:spPr>
        <p:txBody>
          <a:bodyPr>
            <a:normAutofit/>
          </a:bodyPr>
          <a:lstStyle/>
          <a:p>
            <a:r>
              <a:rPr lang="en-IN" sz="4000" dirty="0"/>
              <a:t>GitHub Link</a:t>
            </a:r>
            <a:br>
              <a:rPr lang="en-IN" sz="4000" dirty="0"/>
            </a:br>
            <a:br>
              <a:rPr lang="en-IN" sz="4000" dirty="0"/>
            </a:br>
            <a:r>
              <a:rPr lang="en-IN" sz="4000" dirty="0"/>
              <a:t>https://github.com/Sayantanx-code/Seasonal-Agriculture-Performance-Analysis</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795544" y="149529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0" y="0"/>
            <a:ext cx="8351388" cy="902626"/>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A51C78B-3B4C-FD22-A107-D71E76DB8298}"/>
              </a:ext>
            </a:extLst>
          </p:cNvPr>
          <p:cNvPicPr>
            <a:picLocks noChangeAspect="1"/>
          </p:cNvPicPr>
          <p:nvPr/>
        </p:nvPicPr>
        <p:blipFill>
          <a:blip r:embed="rId3"/>
          <a:stretch>
            <a:fillRect/>
          </a:stretch>
        </p:blipFill>
        <p:spPr>
          <a:xfrm>
            <a:off x="0" y="925975"/>
            <a:ext cx="12191999" cy="593202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2" y="3962572"/>
            <a:ext cx="4853371" cy="1701109"/>
          </a:xfrm>
        </p:spPr>
        <p:txBody>
          <a:bodyPr>
            <a:normAutofit/>
          </a:bodyPr>
          <a:lstStyle/>
          <a:p>
            <a:r>
              <a:rPr lang="en-US" dirty="0"/>
              <a:t>THANK YOU FOR THIS OPPORTUNITY  </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649</TotalTime>
  <Words>1419</Words>
  <Application>Microsoft Office PowerPoint</Application>
  <PresentationFormat>Widescreen</PresentationFormat>
  <Paragraphs>61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Seasonal Agriculture Performance Analysis is an end-to-end data analytics and machine learning project designed to evaluate and compare agricultural performance across Kharif, Rabi, and Zaid seasons. The project uses a structured agricultural dataset containing information related to crop production, yield, profitability, irrigation, resource consumption, environmental conditions, and disease/pest risk. The project begins with data preprocessing and quality assessment, including dataset profiling, data-type validation, missing-value detection and treatment, duplicate identification, range validation, and consistency checks. Feature engineering is then performed to derive meaningful analytical variables such as Profit per Hectare, Revenue per Hectare, Water Usage per Hectare, and Total NPK, enabling more detailed performance evaluation. Extensive Exploratory Data Analysis (EDA) is conducted using Pandas, NumPy, Matplotlib, and Seaborn to identify distributions, trends, seasonal variations, crop-level differences, regional patterns, and relationships between agricultural variables. Comparative analysis is performed across seasons, crops, states, and irrigation methods to identify high- and low-performing combinations. For quantitative validation, the project applies statistical analysis using SciPy, including ANOVA, Kruskal-Wallis testing, Mann-Whitney pairwise comparisons with Bonferroni correction, and effect-size analysis. Correlation analysis is also used to investigate relationships between environmental conditions, resource usage, and agricultural outcomes. A Random Forest Regression model using Scikit-learn is additionally implemented to predict agricultural yield and evaluate feature importance. Model performance is assessed using metrics such as R² and Mean Absolute Error (MAE), providing a machine-learning perspective on yield prediction. The final analysis transforms raw agricultural data into actionable insights, highlighting seasonal performance differences and supporting data-driven recommendations for crop selection, resource allocation, irrigation management, and region-specific agricultural planning.)  </vt:lpstr>
      <vt:lpstr>WHO ARE THE END USERS?</vt:lpstr>
      <vt:lpstr>Technology Used</vt:lpstr>
      <vt:lpstr>RESULTS </vt:lpstr>
      <vt:lpstr>RESULTS </vt:lpstr>
      <vt:lpstr>RESULTS </vt:lpstr>
      <vt:lpstr>RESULTS </vt:lpstr>
      <vt:lpstr>RESULTS </vt:lpstr>
      <vt:lpstr>FETURE SCOPE     Seasonal Analysis: Compare agricultural performance across Kharif, Rabi, and Zaid seasons.  Crop Profitability: Identify the most profitable and loss-making crop-season combinations.  Yield Prediction: Predict crop yield using environmental, soil, and resource-related factors.  Crop Recommendation: Suggest suitable crops based on season, expected yield, profitability, and resource availability.  Water Management: Analyze water consumption and improve water-use efficiency.  Risk Analysis: Evaluate disease and pest risks across crops and seasons.  Resource Optimization: Improve the use of water, fertilizer, pesticide, and other agricultural inputs.  Regional Analysis: Compare crop performance and profitability across different states.  Interactive Dashboard: Present key insights through charts, rankings, heatmaps, and performance indicators.  Future Scope: Extend the system with real-time weather data, market prices, advanced ML models, and personalized farmer recommendations.  </vt:lpstr>
      <vt:lpstr>GitHub Link  https://github.com/Sayantanx-code/Seasonal-Agriculture-Performance-Analysis</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Sayantan Mondal</cp:lastModifiedBy>
  <cp:revision>100</cp:revision>
  <dcterms:created xsi:type="dcterms:W3CDTF">2021-07-11T13:13:15Z</dcterms:created>
  <dcterms:modified xsi:type="dcterms:W3CDTF">2026-09-03T18:29:19Z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